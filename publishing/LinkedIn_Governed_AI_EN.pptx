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Local implementation and tests: evidence/verification.json, evidence/demo/crash-recovery.json, evidence/evaluation/baseline-results.json.
UI asset: docs/assets/workspace-en.png or workspace-de.png, synthetic Chromium DOM harness; not native-navigation verification.
Implementation boundary: docs/en/testing.md and docs/en/integration.md.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Local implementation and tests: evidence/verification.json, evidence/demo/crash-recovery.json, evidence/evaluation/baseline-results.json.
UI asset: docs/assets/workspace-en.png or workspace-de.png, synthetic Chromium DOM harness; not native-navigation verification.
Implementation boundary: docs/en/testing.md and docs/en/integration.md.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Local implementation and tests: evidence/verification.json, evidence/demo/crash-recovery.json, evidence/evaluation/baseline-results.json.
UI asset: docs/assets/workspace-en.png or workspace-de.png, synthetic Chromium DOM harness; not native-navigation verification.
Implementation boundary: docs/en/testing.md and docs/en/integration.md.
Ollama native tool-calling protocol: https://docs.ollama.com/capabilities/tool-calling (accessed 2026-10-12).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Local implementation and tests: evidence/verification.json, evidence/demo/crash-recovery.json, evidence/evaluation/baseline-results.json.
UI asset: docs/assets/workspace-en.png or workspace-de.png, synthetic Chromium DOM harness; not native-navigation verification.
Implementation boundary: docs/en/testing.md and docs/en/integration.md.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Local implementation and tests: evidence/verification.json, evidence/demo/crash-recovery.json, evidence/evaluation/baseline-results.json.
UI asset: docs/assets/workspace-en.png or workspace-de.png, synthetic Chromium DOM harness; not native-navigation verification.
Implementation boundary: docs/en/testing.md and docs/en/integration.md.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Local implementation and tests: evidence/verification.json, evidence/demo/crash-recovery.json, evidence/evaluation/baseline-results.json.
UI asset: docs/assets/workspace-en.png or workspace-de.png, synthetic Chromium DOM harness; not native-navigation verification.
Implementation boundary: docs/en/testing.md and docs/en/integration.md.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Local implementation and tests: evidence/verification.json, evidence/demo/crash-recovery.json, evidence/evaluation/baseline-results.json.
UI asset: docs/assets/workspace-en.png or workspace-de.png, synthetic Chromium DOM harness; not native-navigation verification.
Implementation boundary: docs/en/testing.md and docs/en/integration.md.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Local implementation and tests: evidence/verification.json, evidence/demo/crash-recovery.json, evidence/evaluation/baseline-results.json.
UI asset: docs/assets/workspace-en.png or workspace-de.png, synthetic Chromium DOM harness; not native-navigation verification.
Implementation boundary: docs/en/testing.md and docs/en/integration.md.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F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566928"/>
            <a:ext cx="10945368" cy="0"/>
          </a:xfrm>
          <a:prstGeom prst="line">
            <a:avLst/>
          </a:prstGeom>
          <a:noFill/>
          <a:ln w="12700">
            <a:solidFill>
              <a:srgbClr val="3043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57E0C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GOVERNED AI WORKFLOW / ENGINEERING REFERENCE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621792" y="6345936"/>
            <a:ext cx="10945368" cy="0"/>
          </a:xfrm>
          <a:prstGeom prst="line">
            <a:avLst/>
          </a:prstGeom>
          <a:noFill/>
          <a:ln w="12700">
            <a:solidFill>
              <a:srgbClr val="3043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5566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A7BC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Ahad Porkar  /  Governed AI Workflow  /  Release candidate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0735056" y="6455664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A7BC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 / 08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58368" y="1024128"/>
            <a:ext cx="10881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9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 should not sign</a:t>
            </a:r>
            <a:endParaRPr lang="en-US" sz="5597" dirty="0"/>
          </a:p>
          <a:p>
            <a:pPr indent="0" marL="0">
              <a:buNone/>
            </a:pPr>
            <a:r>
              <a:rPr lang="en-US" sz="559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its own approval.</a:t>
            </a:r>
            <a:endParaRPr lang="en-US" sz="5597" dirty="0"/>
          </a:p>
        </p:txBody>
      </p:sp>
      <p:sp>
        <p:nvSpPr>
          <p:cNvPr id="8" name="Text 6"/>
          <p:cNvSpPr/>
          <p:nvPr/>
        </p:nvSpPr>
        <p:spPr>
          <a:xfrm>
            <a:off x="694944" y="3602736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CBD8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Bounded investigation. Independent review.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CBD8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Recoverable execution.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85800" y="4992624"/>
            <a:ext cx="10817352" cy="640080"/>
          </a:xfrm>
          <a:prstGeom prst="rect">
            <a:avLst/>
          </a:prstGeom>
          <a:solidFill>
            <a:srgbClr val="1C3450"/>
          </a:solidFill>
          <a:ln w="12700">
            <a:solidFill>
              <a:srgbClr val="1C34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513892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57E0C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1.1.0-rc.1  |  SYNTHETIC-DATA SANDBOX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566928"/>
            <a:ext cx="10945368" cy="0"/>
          </a:xfrm>
          <a:prstGeom prst="line">
            <a:avLst/>
          </a:prstGeom>
          <a:noFill/>
          <a:ln w="12700">
            <a:solidFill>
              <a:srgbClr val="D9E3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08E7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GOVERNED AI WORKFLOW / ENGINEERING REFERENCE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621792" y="6345936"/>
            <a:ext cx="10945368" cy="0"/>
          </a:xfrm>
          <a:prstGeom prst="line">
            <a:avLst/>
          </a:prstGeom>
          <a:noFill/>
          <a:ln w="12700">
            <a:solidFill>
              <a:srgbClr val="D9E3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5566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Ahad Porkar  /  Governed AI Workflow  /  Release candidate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0735056" y="6455664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 / 08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76656" y="841248"/>
            <a:ext cx="107899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78" b="1" dirty="0">
                <a:solidFill>
                  <a:srgbClr val="182B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One exception.</a:t>
            </a:r>
            <a:endParaRPr lang="en-US" sz="3978" dirty="0"/>
          </a:p>
          <a:p>
            <a:pPr indent="0" marL="0">
              <a:buNone/>
            </a:pPr>
            <a:r>
              <a:rPr lang="en-US" sz="3978" b="1" dirty="0">
                <a:solidFill>
                  <a:srgbClr val="182B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Explicit authority.</a:t>
            </a:r>
            <a:endParaRPr lang="en-US" sz="3978" dirty="0"/>
          </a:p>
        </p:txBody>
      </p:sp>
      <p:sp>
        <p:nvSpPr>
          <p:cNvPr id="8" name="Text 6"/>
          <p:cNvSpPr/>
          <p:nvPr/>
        </p:nvSpPr>
        <p:spPr>
          <a:xfrm>
            <a:off x="694944" y="24688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 order cannot be fulfilled. The customer asks for a resolution.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3291840"/>
            <a:ext cx="3456432" cy="1737360"/>
          </a:xfrm>
          <a:prstGeom prst="rect">
            <a:avLst/>
          </a:prstGeom>
          <a:solidFill>
            <a:srgbClr val="F1F5FA"/>
          </a:solidFill>
          <a:ln w="12700">
            <a:solidFill>
              <a:srgbClr val="F1F5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3511296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8E7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86968" y="392277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82B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Refund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86968" y="440740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Only within the remaining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captured balance.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61688" y="3291840"/>
            <a:ext cx="3456432" cy="1737360"/>
          </a:xfrm>
          <a:prstGeom prst="rect">
            <a:avLst/>
          </a:prstGeom>
          <a:solidFill>
            <a:srgbClr val="F1F5FA"/>
          </a:solidFill>
          <a:ln w="12700">
            <a:solidFill>
              <a:srgbClr val="F1F5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62856" y="3511296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8E7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62856" y="392277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82B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Cancel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62856" y="440740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Only when payment and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fulfillment state allow it.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37576" y="3291840"/>
            <a:ext cx="3456432" cy="1737360"/>
          </a:xfrm>
          <a:prstGeom prst="rect">
            <a:avLst/>
          </a:prstGeom>
          <a:solidFill>
            <a:srgbClr val="F1F5FA"/>
          </a:solidFill>
          <a:ln w="12700">
            <a:solidFill>
              <a:srgbClr val="F1F5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38744" y="3511296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8E7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38744" y="392277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82B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Change supplier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238744" y="440740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Only approved, in-stock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alternatives within policy.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4088" y="5477256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8E7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Unclear intent or unavailable evidence? Escalate. Do not improvise authority.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566928"/>
            <a:ext cx="10945368" cy="0"/>
          </a:xfrm>
          <a:prstGeom prst="line">
            <a:avLst/>
          </a:prstGeom>
          <a:noFill/>
          <a:ln w="12700">
            <a:solidFill>
              <a:srgbClr val="D9E3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08E7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GOVERNED AI WORKFLOW / ENGINEERING REFERENCE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621792" y="6345936"/>
            <a:ext cx="10945368" cy="0"/>
          </a:xfrm>
          <a:prstGeom prst="line">
            <a:avLst/>
          </a:prstGeom>
          <a:noFill/>
          <a:ln w="12700">
            <a:solidFill>
              <a:srgbClr val="D9E3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5566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Ahad Porkar  /  Governed AI Workflow  /  Release candidate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0735056" y="6455664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 / 08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76656" y="841248"/>
            <a:ext cx="10881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97" b="1" dirty="0">
                <a:solidFill>
                  <a:srgbClr val="182B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model proposes.</a:t>
            </a:r>
            <a:endParaRPr lang="en-US" sz="3597" dirty="0"/>
          </a:p>
          <a:p>
            <a:pPr indent="0" marL="0">
              <a:buNone/>
            </a:pPr>
            <a:r>
              <a:rPr lang="en-US" sz="3597" b="1" dirty="0">
                <a:solidFill>
                  <a:srgbClr val="182B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system controls the effect.</a:t>
            </a:r>
            <a:endParaRPr lang="en-US" sz="3597" dirty="0"/>
          </a:p>
        </p:txBody>
      </p:sp>
      <p:sp>
        <p:nvSpPr>
          <p:cNvPr id="8" name="Shape 6"/>
          <p:cNvSpPr/>
          <p:nvPr/>
        </p:nvSpPr>
        <p:spPr>
          <a:xfrm>
            <a:off x="685800" y="2862072"/>
            <a:ext cx="2450592" cy="2029968"/>
          </a:xfrm>
          <a:prstGeom prst="rect">
            <a:avLst/>
          </a:prstGeom>
          <a:solidFill>
            <a:srgbClr val="F1F5FA"/>
          </a:solidFill>
          <a:ln w="12700">
            <a:solidFill>
              <a:srgbClr val="F1F5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31089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8E7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86968" y="3675888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82B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Investigate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86968" y="4215384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Four case-scoped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read-only tools.</a:t>
            </a:r>
            <a:endParaRPr lang="en-US" sz="1160" dirty="0"/>
          </a:p>
        </p:txBody>
      </p:sp>
      <p:sp>
        <p:nvSpPr>
          <p:cNvPr id="12" name="Text 10"/>
          <p:cNvSpPr/>
          <p:nvPr/>
        </p:nvSpPr>
        <p:spPr>
          <a:xfrm>
            <a:off x="3236976" y="3602736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08E7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&gt;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3474720" y="2862072"/>
            <a:ext cx="2450592" cy="2029968"/>
          </a:xfrm>
          <a:prstGeom prst="rect">
            <a:avLst/>
          </a:prstGeom>
          <a:solidFill>
            <a:srgbClr val="F1F5FA"/>
          </a:solidFill>
          <a:ln w="12700">
            <a:solidFill>
              <a:srgbClr val="F1F5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75888" y="31089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8E7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75888" y="3675888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82B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Validate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75888" y="4215384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Deterministic rules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and strict schema.</a:t>
            </a:r>
            <a:endParaRPr lang="en-US" sz="1160" dirty="0"/>
          </a:p>
        </p:txBody>
      </p:sp>
      <p:sp>
        <p:nvSpPr>
          <p:cNvPr id="17" name="Text 15"/>
          <p:cNvSpPr/>
          <p:nvPr/>
        </p:nvSpPr>
        <p:spPr>
          <a:xfrm>
            <a:off x="6025896" y="3602736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08E7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&gt;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263640" y="2862072"/>
            <a:ext cx="2450592" cy="2029968"/>
          </a:xfrm>
          <a:prstGeom prst="rect">
            <a:avLst/>
          </a:prstGeom>
          <a:solidFill>
            <a:srgbClr val="F1F5FA"/>
          </a:solidFill>
          <a:ln w="12700">
            <a:solidFill>
              <a:srgbClr val="F1F5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64808" y="31089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8E7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64808" y="3675888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82B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Review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64808" y="4215384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Different person.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Exact action digest.</a:t>
            </a:r>
            <a:endParaRPr lang="en-US" sz="1160" dirty="0"/>
          </a:p>
        </p:txBody>
      </p:sp>
      <p:sp>
        <p:nvSpPr>
          <p:cNvPr id="22" name="Text 20"/>
          <p:cNvSpPr/>
          <p:nvPr/>
        </p:nvSpPr>
        <p:spPr>
          <a:xfrm>
            <a:off x="8814816" y="3602736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08E7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&gt;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9052560" y="2862072"/>
            <a:ext cx="2450592" cy="2029968"/>
          </a:xfrm>
          <a:prstGeom prst="rect">
            <a:avLst/>
          </a:prstGeom>
          <a:solidFill>
            <a:srgbClr val="EAF8F4"/>
          </a:solidFill>
          <a:ln w="12700">
            <a:solidFill>
              <a:srgbClr val="EAF8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53728" y="31089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8E7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253728" y="3675888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82B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Execute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253728" y="4215384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Recheck grant,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versions and expiry.</a:t>
            </a:r>
            <a:endParaRPr lang="en-US" sz="1160" dirty="0"/>
          </a:p>
        </p:txBody>
      </p:sp>
      <p:sp>
        <p:nvSpPr>
          <p:cNvPr id="27" name="Text 25"/>
          <p:cNvSpPr/>
          <p:nvPr/>
        </p:nvSpPr>
        <p:spPr>
          <a:xfrm>
            <a:off x="713232" y="5431536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63" b="1" dirty="0">
                <a:solidFill>
                  <a:srgbClr val="008E7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 refund tool in the model context. No approval granted by a browser field.</a:t>
            </a:r>
            <a:endParaRPr lang="en-US" sz="176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F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566928"/>
            <a:ext cx="10945368" cy="0"/>
          </a:xfrm>
          <a:prstGeom prst="line">
            <a:avLst/>
          </a:prstGeom>
          <a:noFill/>
          <a:ln w="12700">
            <a:solidFill>
              <a:srgbClr val="3043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57E0C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GOVERNED AI WORKFLOW / ENGINEERING REFERENCE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621792" y="6345936"/>
            <a:ext cx="10945368" cy="0"/>
          </a:xfrm>
          <a:prstGeom prst="line">
            <a:avLst/>
          </a:prstGeom>
          <a:noFill/>
          <a:ln w="12700">
            <a:solidFill>
              <a:srgbClr val="3043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5566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A7BC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Ahad Porkar  /  Governed AI Workflow  /  Release candidate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0735056" y="6455664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A7BC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 / 08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76656" y="932688"/>
            <a:ext cx="1078992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59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Crash the worker.</a:t>
            </a:r>
            <a:endParaRPr lang="en-US" sz="4597" dirty="0"/>
          </a:p>
          <a:p>
            <a:pPr indent="0" marL="0">
              <a:buNone/>
            </a:pPr>
            <a:r>
              <a:rPr lang="en-US" sz="459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Keep one effect.</a:t>
            </a:r>
            <a:endParaRPr lang="en-US" sz="4597" dirty="0"/>
          </a:p>
        </p:txBody>
      </p:sp>
      <p:sp>
        <p:nvSpPr>
          <p:cNvPr id="8" name="Text 6"/>
          <p:cNvSpPr/>
          <p:nvPr/>
        </p:nvSpPr>
        <p:spPr>
          <a:xfrm>
            <a:off x="713232" y="277063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8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After the commit. Before acknowledgement. Then restart and retry.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13232" y="3639312"/>
            <a:ext cx="32461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0" b="1" dirty="0">
                <a:solidFill>
                  <a:srgbClr val="57E0C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6300" dirty="0"/>
          </a:p>
        </p:txBody>
      </p:sp>
      <p:sp>
        <p:nvSpPr>
          <p:cNvPr id="10" name="Text 8"/>
          <p:cNvSpPr/>
          <p:nvPr/>
        </p:nvSpPr>
        <p:spPr>
          <a:xfrm>
            <a:off x="713232" y="4700016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committed sandbox effect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16552" y="3639312"/>
            <a:ext cx="32461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0" b="1" dirty="0">
                <a:solidFill>
                  <a:srgbClr val="57E0C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6300" dirty="0"/>
          </a:p>
        </p:txBody>
      </p:sp>
      <p:sp>
        <p:nvSpPr>
          <p:cNvPr id="12" name="Text 10"/>
          <p:cNvSpPr/>
          <p:nvPr/>
        </p:nvSpPr>
        <p:spPr>
          <a:xfrm>
            <a:off x="4416552" y="4700016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execution attempts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19872" y="3639312"/>
            <a:ext cx="32461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0" b="1" dirty="0">
                <a:solidFill>
                  <a:srgbClr val="57E0C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6300" dirty="0"/>
          </a:p>
        </p:txBody>
      </p:sp>
      <p:sp>
        <p:nvSpPr>
          <p:cNvPr id="14" name="Text 12"/>
          <p:cNvSpPr/>
          <p:nvPr/>
        </p:nvSpPr>
        <p:spPr>
          <a:xfrm>
            <a:off x="8119872" y="4700016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same receipt on replay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22376" y="5596128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EC3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Verified with an actual standalone worker halt and server restart.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EC3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Not a real payment-provider or Camunda fault-injection result.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566928"/>
            <a:ext cx="10945368" cy="0"/>
          </a:xfrm>
          <a:prstGeom prst="line">
            <a:avLst/>
          </a:prstGeom>
          <a:noFill/>
          <a:ln w="12700">
            <a:solidFill>
              <a:srgbClr val="D9E3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08E7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GOVERNED AI WORKFLOW / ENGINEERING REFERENCE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621792" y="6345936"/>
            <a:ext cx="10945368" cy="0"/>
          </a:xfrm>
          <a:prstGeom prst="line">
            <a:avLst/>
          </a:prstGeom>
          <a:noFill/>
          <a:ln w="12700">
            <a:solidFill>
              <a:srgbClr val="D9E3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5566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Ahad Porkar  /  Governed AI Workflow  /  Release candidate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0735056" y="6455664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05 / 08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85800" y="950976"/>
            <a:ext cx="5577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97" b="1" dirty="0">
                <a:solidFill>
                  <a:srgbClr val="182B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review console,</a:t>
            </a:r>
            <a:endParaRPr lang="en-US" sz="3597" dirty="0"/>
          </a:p>
          <a:p>
            <a:pPr indent="0" marL="0">
              <a:buNone/>
            </a:pPr>
            <a:r>
              <a:rPr lang="en-US" sz="3597" b="1" dirty="0">
                <a:solidFill>
                  <a:srgbClr val="182B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not a chat transcript.</a:t>
            </a:r>
            <a:endParaRPr lang="en-US" sz="3597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4983480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Original request.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Exact amount.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Policy and evidence.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Approval expiry.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Audit and receipt.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5422392"/>
            <a:ext cx="5440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3" dirty="0">
                <a:solidFill>
                  <a:srgbClr val="008E7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English / German. Synthetic cases.</a:t>
            </a:r>
            <a:endParaRPr lang="en-US" sz="1063" dirty="0"/>
          </a:p>
          <a:p>
            <a:pPr indent="0" marL="0">
              <a:buNone/>
            </a:pPr>
            <a:r>
              <a:rPr lang="en-US" sz="1063" dirty="0">
                <a:solidFill>
                  <a:srgbClr val="008E7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Screenshot from the disclosed Chromium DOM harness.</a:t>
            </a:r>
            <a:endParaRPr lang="en-US" sz="1063" dirty="0"/>
          </a:p>
        </p:txBody>
      </p:sp>
      <p:pic>
        <p:nvPicPr>
          <p:cNvPr id="10" name="Image 0" descr="/mnt/data/governed-ai-workflow-rc1/docs/assets/workspace-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057084"/>
            <a:ext cx="5093208" cy="48809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566928"/>
            <a:ext cx="10945368" cy="0"/>
          </a:xfrm>
          <a:prstGeom prst="line">
            <a:avLst/>
          </a:prstGeom>
          <a:noFill/>
          <a:ln w="12700">
            <a:solidFill>
              <a:srgbClr val="D9E3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08E7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GOVERNED AI WORKFLOW / ENGINEERING REFERENCE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621792" y="6345936"/>
            <a:ext cx="10945368" cy="0"/>
          </a:xfrm>
          <a:prstGeom prst="line">
            <a:avLst/>
          </a:prstGeom>
          <a:noFill/>
          <a:ln w="12700">
            <a:solidFill>
              <a:srgbClr val="D9E3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5566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Ahad Porkar  /  Governed AI Workflow  /  Release candidate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0735056" y="6455664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06 / 08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85800" y="9144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91" b="1" dirty="0">
                <a:solidFill>
                  <a:srgbClr val="182B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Evidence, with boundaries.</a:t>
            </a:r>
            <a:endParaRPr lang="en-US" sz="3891" dirty="0"/>
          </a:p>
        </p:txBody>
      </p:sp>
      <p:sp>
        <p:nvSpPr>
          <p:cNvPr id="8" name="Text 6"/>
          <p:cNvSpPr/>
          <p:nvPr/>
        </p:nvSpPr>
        <p:spPr>
          <a:xfrm>
            <a:off x="713232" y="2322576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0" b="1" dirty="0">
                <a:solidFill>
                  <a:srgbClr val="008E7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167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749808" y="369417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97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passing checks</a:t>
            </a:r>
            <a:endParaRPr lang="en-US" sz="1897" dirty="0"/>
          </a:p>
        </p:txBody>
      </p:sp>
      <p:sp>
        <p:nvSpPr>
          <p:cNvPr id="10" name="Shape 8"/>
          <p:cNvSpPr/>
          <p:nvPr/>
        </p:nvSpPr>
        <p:spPr>
          <a:xfrm>
            <a:off x="4315968" y="2212848"/>
            <a:ext cx="3392424" cy="1280160"/>
          </a:xfrm>
          <a:prstGeom prst="rect">
            <a:avLst/>
          </a:prstGeom>
          <a:solidFill>
            <a:srgbClr val="F1F5FA"/>
          </a:solidFill>
          <a:ln w="12700">
            <a:solidFill>
              <a:srgbClr val="F1F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2359152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B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106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4526280" y="299008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Java contracts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01000" y="2212848"/>
            <a:ext cx="3392424" cy="1280160"/>
          </a:xfrm>
          <a:prstGeom prst="rect">
            <a:avLst/>
          </a:prstGeom>
          <a:solidFill>
            <a:srgbClr val="F1F5FA"/>
          </a:solidFill>
          <a:ln w="12700">
            <a:solidFill>
              <a:srgbClr val="F1F5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11312" y="2359152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B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29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8211312" y="299008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Real HTTP / process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15968" y="3721608"/>
            <a:ext cx="3392424" cy="1280160"/>
          </a:xfrm>
          <a:prstGeom prst="rect">
            <a:avLst/>
          </a:prstGeom>
          <a:solidFill>
            <a:srgbClr val="F1F5FA"/>
          </a:solidFill>
          <a:ln w="12700">
            <a:solidFill>
              <a:srgbClr val="F1F5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3867912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B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4526280" y="449884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Browser DOM harness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01000" y="3721608"/>
            <a:ext cx="3392424" cy="1280160"/>
          </a:xfrm>
          <a:prstGeom prst="rect">
            <a:avLst/>
          </a:prstGeom>
          <a:solidFill>
            <a:srgbClr val="F1F5FA"/>
          </a:solidFill>
          <a:ln w="12700">
            <a:solidFill>
              <a:srgbClr val="F1F5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11312" y="3867912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B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23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8211312" y="449884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Repository safeguards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5596128"/>
            <a:ext cx="10716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Still to verify: native browser networking/CSP, the external stack,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and a live model. No invented coverage percentage.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566928"/>
            <a:ext cx="10945368" cy="0"/>
          </a:xfrm>
          <a:prstGeom prst="line">
            <a:avLst/>
          </a:prstGeom>
          <a:noFill/>
          <a:ln w="12700">
            <a:solidFill>
              <a:srgbClr val="D9E3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08E7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GOVERNED AI WORKFLOW / ENGINEERING REFERENCE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621792" y="6345936"/>
            <a:ext cx="10945368" cy="0"/>
          </a:xfrm>
          <a:prstGeom prst="line">
            <a:avLst/>
          </a:prstGeom>
          <a:noFill/>
          <a:ln w="12700">
            <a:solidFill>
              <a:srgbClr val="D9E3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5566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Ahad Porkar  /  Governed AI Workflow  /  Release candidate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0735056" y="6455664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07 / 08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76656" y="859536"/>
            <a:ext cx="10789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97" b="1" dirty="0">
                <a:solidFill>
                  <a:srgbClr val="182B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baseline fails.</a:t>
            </a:r>
            <a:endParaRPr lang="en-US" sz="3897" dirty="0"/>
          </a:p>
          <a:p>
            <a:pPr indent="0" marL="0">
              <a:buNone/>
            </a:pPr>
            <a:r>
              <a:rPr lang="en-US" sz="3897" b="1" dirty="0">
                <a:solidFill>
                  <a:srgbClr val="182B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 publish where.</a:t>
            </a:r>
            <a:endParaRPr lang="en-US" sz="3897" dirty="0"/>
          </a:p>
        </p:txBody>
      </p:sp>
      <p:sp>
        <p:nvSpPr>
          <p:cNvPr id="8" name="Shape 6"/>
          <p:cNvSpPr/>
          <p:nvPr/>
        </p:nvSpPr>
        <p:spPr>
          <a:xfrm>
            <a:off x="713232" y="2807208"/>
            <a:ext cx="5230368" cy="2029968"/>
          </a:xfrm>
          <a:prstGeom prst="rect">
            <a:avLst/>
          </a:prstGeom>
          <a:solidFill>
            <a:srgbClr val="F1F5FA"/>
          </a:solidFill>
          <a:ln w="12700">
            <a:solidFill>
              <a:srgbClr val="F1F5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154680"/>
            <a:ext cx="468172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900" b="1" dirty="0">
                <a:solidFill>
                  <a:srgbClr val="315D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33 / 48</a:t>
            </a:r>
            <a:endParaRPr lang="en-US" sz="4900" dirty="0"/>
          </a:p>
        </p:txBody>
      </p:sp>
      <p:sp>
        <p:nvSpPr>
          <p:cNvPr id="10" name="Text 8"/>
          <p:cNvSpPr/>
          <p:nvPr/>
        </p:nvSpPr>
        <p:spPr>
          <a:xfrm>
            <a:off x="978408" y="42245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2B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exact proposals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36208" y="2807208"/>
            <a:ext cx="5230368" cy="2029968"/>
          </a:xfrm>
          <a:prstGeom prst="rect">
            <a:avLst/>
          </a:prstGeom>
          <a:solidFill>
            <a:srgbClr val="F1F5FA"/>
          </a:solidFill>
          <a:ln w="12700">
            <a:solidFill>
              <a:srgbClr val="F1F5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83096" y="3154680"/>
            <a:ext cx="468172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900" b="1" dirty="0">
                <a:solidFill>
                  <a:srgbClr val="008E7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40 / 48</a:t>
            </a:r>
            <a:endParaRPr lang="en-US" sz="4900" dirty="0"/>
          </a:p>
        </p:txBody>
      </p:sp>
      <p:sp>
        <p:nvSpPr>
          <p:cNvPr id="13" name="Text 11"/>
          <p:cNvSpPr/>
          <p:nvPr/>
        </p:nvSpPr>
        <p:spPr>
          <a:xfrm>
            <a:off x="6501384" y="42245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2B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acceptable dispositions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49808" y="5376672"/>
            <a:ext cx="106801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8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48 labelled EN/DE cases. Partial amounts, quoted intent and restrictions expose weaknesses.</a:t>
            </a:r>
            <a:endParaRPr lang="en-US" sz="1428" dirty="0"/>
          </a:p>
          <a:p>
            <a:pPr indent="0" marL="0">
              <a:buNone/>
            </a:pPr>
            <a:r>
              <a:rPr lang="en-US" sz="1428" dirty="0">
                <a:solidFill>
                  <a:srgbClr val="52678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Zero live-model calls in this result; no effects executed.</a:t>
            </a:r>
            <a:endParaRPr lang="en-US" sz="1428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F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566928"/>
            <a:ext cx="10945368" cy="0"/>
          </a:xfrm>
          <a:prstGeom prst="line">
            <a:avLst/>
          </a:prstGeom>
          <a:noFill/>
          <a:ln w="12700">
            <a:solidFill>
              <a:srgbClr val="3043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57E0C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GOVERNED AI WORKFLOW / ENGINEERING REFERENCE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621792" y="6345936"/>
            <a:ext cx="10945368" cy="0"/>
          </a:xfrm>
          <a:prstGeom prst="line">
            <a:avLst/>
          </a:prstGeom>
          <a:noFill/>
          <a:ln w="12700">
            <a:solidFill>
              <a:srgbClr val="3043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5566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A7BC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Ahad Porkar  /  Governed AI Workflow  /  Release candidate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0735056" y="6455664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A7BC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08 / 08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58368" y="978408"/>
            <a:ext cx="10826496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9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Controlled intelligence.</a:t>
            </a:r>
            <a:endParaRPr lang="en-US" sz="4297" dirty="0"/>
          </a:p>
          <a:p>
            <a:pPr indent="0" marL="0">
              <a:buNone/>
            </a:pPr>
            <a:r>
              <a:rPr lang="en-US" sz="429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Inspectable engineering.</a:t>
            </a:r>
            <a:endParaRPr lang="en-US" sz="4297" dirty="0"/>
          </a:p>
        </p:txBody>
      </p:sp>
      <p:sp>
        <p:nvSpPr>
          <p:cNvPr id="8" name="Text 6"/>
          <p:cNvSpPr/>
          <p:nvPr/>
        </p:nvSpPr>
        <p:spPr>
          <a:xfrm>
            <a:off x="713232" y="2999232"/>
            <a:ext cx="10515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CBD8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narrow reference for workflow, integration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CBD8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and reliable AI systems.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13232" y="4142232"/>
            <a:ext cx="106070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3" b="1" dirty="0">
                <a:solidFill>
                  <a:srgbClr val="57E0C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Next gate: real stack acceptance and held-out model evaluation.</a:t>
            </a:r>
            <a:endParaRPr lang="en-US" sz="1703" dirty="0"/>
          </a:p>
        </p:txBody>
      </p:sp>
      <p:sp>
        <p:nvSpPr>
          <p:cNvPr id="10" name="Text 8"/>
          <p:cNvSpPr/>
          <p:nvPr/>
        </p:nvSpPr>
        <p:spPr>
          <a:xfrm>
            <a:off x="731520" y="501091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EC3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Source code and implementation notes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5449824"/>
            <a:ext cx="10607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github.com/AhadPorkar/bpmn-order-workflow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Ahad Porkar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Governed AI Workflow / EN</dc:title>
  <dc:subject>Governed AI Workflow release-candidate portfolio document</dc:subject>
  <dc:creator>Ahad Porkar</dc:creator>
  <cp:lastModifiedBy>Ahad Porkar</cp:lastModifiedBy>
  <cp:revision>1</cp:revision>
  <dcterms:created xsi:type="dcterms:W3CDTF">2026-10-12T07:45:11Z</dcterms:created>
  <dcterms:modified xsi:type="dcterms:W3CDTF">2026-10-12T07:45:11Z</dcterms:modified>
</cp:coreProperties>
</file>